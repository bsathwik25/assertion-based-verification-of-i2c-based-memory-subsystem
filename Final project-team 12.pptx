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4.jpg" ContentType="image/jpeg"/>
  <Override PartName="/ppt/media/image11.jpg" ContentType="image/jpeg"/>
  <Override PartName="/ppt/media/image1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4" r:id="rId4"/>
    <p:sldId id="258" r:id="rId5"/>
    <p:sldId id="259" r:id="rId6"/>
    <p:sldId id="275" r:id="rId7"/>
    <p:sldId id="261" r:id="rId8"/>
    <p:sldId id="276" r:id="rId9"/>
    <p:sldId id="264" r:id="rId10"/>
    <p:sldId id="265" r:id="rId11"/>
    <p:sldId id="277" r:id="rId12"/>
    <p:sldId id="278" r:id="rId13"/>
    <p:sldId id="279" r:id="rId14"/>
    <p:sldId id="268" r:id="rId15"/>
    <p:sldId id="269" r:id="rId16"/>
    <p:sldId id="282" r:id="rId17"/>
    <p:sldId id="280" r:id="rId18"/>
    <p:sldId id="281" r:id="rId19"/>
    <p:sldId id="272" r:id="rId20"/>
    <p:sldId id="273" r:id="rId2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134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61517" y="815466"/>
            <a:ext cx="2957829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6767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9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6767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9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6767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9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6767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9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6767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9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18004" y="232895"/>
            <a:ext cx="1975356" cy="39759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82637" y="1447672"/>
            <a:ext cx="7887334" cy="0"/>
          </a:xfrm>
          <a:custGeom>
            <a:avLst/>
            <a:gdLst/>
            <a:ahLst/>
            <a:cxnLst/>
            <a:rect l="l" t="t" r="r" b="b"/>
            <a:pathLst>
              <a:path w="7887334">
                <a:moveTo>
                  <a:pt x="0" y="0"/>
                </a:moveTo>
                <a:lnTo>
                  <a:pt x="7886738" y="0"/>
                </a:lnTo>
              </a:path>
            </a:pathLst>
          </a:custGeom>
          <a:ln w="3810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1517" y="815466"/>
            <a:ext cx="5229860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1517" y="1476247"/>
            <a:ext cx="7684134" cy="4434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92210" y="6483795"/>
            <a:ext cx="182879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76767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9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229" y="450926"/>
            <a:ext cx="5006975" cy="9537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105"/>
              </a:spcBef>
            </a:pPr>
            <a:r>
              <a:rPr sz="3200" spc="-150" dirty="0"/>
              <a:t>ECE </a:t>
            </a:r>
            <a:r>
              <a:rPr sz="3200" spc="-25" dirty="0"/>
              <a:t>560</a:t>
            </a:r>
            <a:endParaRPr sz="3200" dirty="0"/>
          </a:p>
          <a:p>
            <a:pPr marL="12700">
              <a:lnSpc>
                <a:spcPts val="3650"/>
              </a:lnSpc>
            </a:pPr>
            <a:r>
              <a:rPr sz="3200" spc="-130" dirty="0"/>
              <a:t>Assertion</a:t>
            </a:r>
            <a:r>
              <a:rPr sz="3200" spc="-135" dirty="0"/>
              <a:t> </a:t>
            </a:r>
            <a:r>
              <a:rPr sz="3200" dirty="0"/>
              <a:t>Based</a:t>
            </a:r>
            <a:r>
              <a:rPr sz="3200" spc="-125" dirty="0"/>
              <a:t> </a:t>
            </a:r>
            <a:r>
              <a:rPr sz="3200" spc="-120" dirty="0"/>
              <a:t>Verification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1219200" y="4355607"/>
            <a:ext cx="6629400" cy="2477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lang="en-US" sz="1800" dirty="0">
                <a:latin typeface="Times New Roman"/>
                <a:cs typeface="Times New Roman"/>
              </a:rPr>
              <a:t>                                               Team:12</a:t>
            </a:r>
          </a:p>
          <a:p>
            <a:pPr>
              <a:lnSpc>
                <a:spcPct val="100000"/>
              </a:lnSpc>
              <a:spcBef>
                <a:spcPts val="85"/>
              </a:spcBef>
            </a:pPr>
            <a:r>
              <a:rPr lang="en-US" sz="1200" dirty="0"/>
              <a:t>                                                  </a:t>
            </a:r>
            <a:r>
              <a:rPr lang="en-US" sz="1200" dirty="0" err="1"/>
              <a:t>Sathwik</a:t>
            </a:r>
            <a:r>
              <a:rPr lang="en-US" sz="1200" dirty="0"/>
              <a:t> Bandi – 981066301 </a:t>
            </a:r>
          </a:p>
          <a:p>
            <a:pPr>
              <a:lnSpc>
                <a:spcPct val="100000"/>
              </a:lnSpc>
              <a:spcBef>
                <a:spcPts val="85"/>
              </a:spcBef>
            </a:pPr>
            <a:r>
              <a:rPr lang="en-US" sz="1200" dirty="0"/>
              <a:t>                                        Avinash Reddy Madireddy – 926067606 </a:t>
            </a:r>
          </a:p>
          <a:p>
            <a:pPr>
              <a:lnSpc>
                <a:spcPct val="100000"/>
              </a:lnSpc>
              <a:spcBef>
                <a:spcPts val="85"/>
              </a:spcBef>
            </a:pPr>
            <a:r>
              <a:rPr lang="en-US" sz="1200" dirty="0"/>
              <a:t>                                           Thanmai </a:t>
            </a:r>
            <a:r>
              <a:rPr lang="en-US" sz="1200" dirty="0" err="1"/>
              <a:t>Neelampalli</a:t>
            </a:r>
            <a:r>
              <a:rPr lang="en-US" sz="1200" dirty="0"/>
              <a:t> – 963346037</a:t>
            </a:r>
          </a:p>
          <a:p>
            <a:pPr>
              <a:lnSpc>
                <a:spcPct val="100000"/>
              </a:lnSpc>
              <a:spcBef>
                <a:spcPts val="85"/>
              </a:spcBef>
            </a:pPr>
            <a:r>
              <a:rPr lang="en-US" sz="1200" dirty="0"/>
              <a:t>                                     Bhanu Sai </a:t>
            </a:r>
            <a:r>
              <a:rPr lang="en-US" sz="1200" dirty="0" err="1"/>
              <a:t>Sidhardha</a:t>
            </a:r>
            <a:r>
              <a:rPr lang="en-US" sz="1200" dirty="0"/>
              <a:t> Tummala – 987364882</a:t>
            </a: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lang="en-US" sz="1200" dirty="0"/>
          </a:p>
          <a:p>
            <a:pPr eaLnBrk="1" hangingPunct="1"/>
            <a:r>
              <a:rPr lang="en-US" sz="1200" dirty="0">
                <a:latin typeface="Times New Roman"/>
                <a:cs typeface="Times New Roman"/>
              </a:rPr>
              <a:t>         </a:t>
            </a:r>
            <a:r>
              <a:rPr lang="en-US" altLang="en-US" sz="1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Under Guidance of </a:t>
            </a:r>
            <a:endParaRPr lang="en-US" altLang="en-US" sz="1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</a:t>
            </a:r>
            <a:r>
              <a:rPr lang="en-US" altLang="en-US" sz="1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Asst. Prof of Practice: </a:t>
            </a:r>
            <a:r>
              <a:rPr lang="en-US" altLang="en-US" sz="12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Venaktesh</a:t>
            </a:r>
            <a:r>
              <a:rPr lang="en-US" altLang="en-US" sz="1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Patil</a:t>
            </a:r>
            <a:endParaRPr lang="en-US" altLang="en-US" sz="1200" kern="0" dirty="0">
              <a:latin typeface="Times New Roman"/>
              <a:cs typeface="Times New Roman"/>
            </a:endParaRPr>
          </a:p>
          <a:p>
            <a:pPr eaLnBrk="1" hangingPunct="1"/>
            <a:r>
              <a:rPr lang="en-US" sz="1900" dirty="0">
                <a:latin typeface="Tahoma"/>
                <a:cs typeface="Tahoma"/>
              </a:rPr>
              <a:t>       Department of </a:t>
            </a:r>
            <a:r>
              <a:rPr sz="1900" dirty="0">
                <a:latin typeface="Tahoma"/>
                <a:cs typeface="Tahoma"/>
              </a:rPr>
              <a:t>Electrical</a:t>
            </a:r>
            <a:r>
              <a:rPr sz="1900" spc="-8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and</a:t>
            </a:r>
            <a:r>
              <a:rPr sz="1900" spc="-8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Computer</a:t>
            </a:r>
            <a:r>
              <a:rPr sz="1900" spc="-85" dirty="0">
                <a:latin typeface="Tahoma"/>
                <a:cs typeface="Tahoma"/>
              </a:rPr>
              <a:t> </a:t>
            </a:r>
            <a:r>
              <a:rPr sz="1900" spc="-45" dirty="0">
                <a:latin typeface="Tahoma"/>
                <a:cs typeface="Tahoma"/>
              </a:rPr>
              <a:t>Engineering</a:t>
            </a:r>
            <a:endParaRPr lang="en-US" sz="1900" spc="-10" dirty="0">
              <a:latin typeface="Tahoma"/>
              <a:cs typeface="Tahoma"/>
            </a:endParaRPr>
          </a:p>
          <a:p>
            <a:pPr marL="12700">
              <a:lnSpc>
                <a:spcPts val="2055"/>
              </a:lnSpc>
            </a:pPr>
            <a:r>
              <a:rPr lang="en-US" sz="1900" dirty="0">
                <a:latin typeface="Tahoma"/>
                <a:cs typeface="Tahoma"/>
              </a:rPr>
              <a:t>      </a:t>
            </a:r>
            <a:r>
              <a:rPr sz="1900" dirty="0">
                <a:latin typeface="Tahoma"/>
                <a:cs typeface="Tahoma"/>
              </a:rPr>
              <a:t>Maseeh</a:t>
            </a:r>
            <a:r>
              <a:rPr sz="1900" spc="-9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College</a:t>
            </a:r>
            <a:r>
              <a:rPr sz="1900" spc="-9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120" dirty="0">
                <a:latin typeface="Tahoma"/>
                <a:cs typeface="Tahoma"/>
              </a:rPr>
              <a:t> </a:t>
            </a:r>
            <a:r>
              <a:rPr sz="1900" spc="-45" dirty="0">
                <a:latin typeface="Tahoma"/>
                <a:cs typeface="Tahoma"/>
              </a:rPr>
              <a:t>Engineering</a:t>
            </a:r>
            <a:r>
              <a:rPr sz="1900" spc="-10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and</a:t>
            </a:r>
            <a:r>
              <a:rPr sz="1900" spc="-10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Computer</a:t>
            </a:r>
            <a:r>
              <a:rPr sz="1900" spc="-11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Science</a:t>
            </a:r>
            <a:endParaRPr lang="en-US" sz="1900" spc="-10" dirty="0">
              <a:latin typeface="Tahoma"/>
              <a:cs typeface="Tahoma"/>
            </a:endParaRPr>
          </a:p>
          <a:p>
            <a:pPr marL="12700">
              <a:lnSpc>
                <a:spcPts val="2055"/>
              </a:lnSpc>
            </a:pPr>
            <a:r>
              <a:rPr lang="en-US" sz="1900" spc="-10" dirty="0">
                <a:latin typeface="Tahoma"/>
                <a:cs typeface="Tahoma"/>
              </a:rPr>
              <a:t>                        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1422" y="1531111"/>
            <a:ext cx="6148578" cy="788677"/>
          </a:xfrm>
          <a:prstGeom prst="rect">
            <a:avLst/>
          </a:prstGeom>
          <a:ln w="9525">
            <a:solidFill>
              <a:srgbClr val="155F82"/>
            </a:solidFill>
          </a:ln>
        </p:spPr>
        <p:txBody>
          <a:bodyPr vert="horz" wrap="square" lIns="0" tIns="171450" rIns="0" bIns="0" rtlCol="0">
            <a:spAutoFit/>
          </a:bodyPr>
          <a:lstStyle/>
          <a:p>
            <a:pPr marL="144145" algn="ctr">
              <a:lnSpc>
                <a:spcPct val="100000"/>
              </a:lnSpc>
              <a:spcBef>
                <a:spcPts val="1350"/>
              </a:spcBef>
            </a:pPr>
            <a:r>
              <a:rPr lang="en-US" sz="2000" dirty="0"/>
              <a:t>Assertion Based Verification for I2C-Based Memory Subsystem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35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pic>
        <p:nvPicPr>
          <p:cNvPr id="1028" name="Picture 4" descr="I2C Archives - Prodigy Technovations">
            <a:extLst>
              <a:ext uri="{FF2B5EF4-FFF2-40B4-BE49-F238E27FC236}">
                <a16:creationId xmlns:a16="http://schemas.microsoft.com/office/drawing/2014/main" id="{6565989B-0EC7-112A-8F05-C7FEC7130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446204"/>
            <a:ext cx="5334000" cy="1820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ortland State University Logo and ...">
            <a:extLst>
              <a:ext uri="{FF2B5EF4-FFF2-40B4-BE49-F238E27FC236}">
                <a16:creationId xmlns:a16="http://schemas.microsoft.com/office/drawing/2014/main" id="{8ECB6C94-8F16-F46C-8425-1B1437987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650" y="2446204"/>
            <a:ext cx="135255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14" dirty="0"/>
              <a:t>Contents</a:t>
            </a:r>
            <a:endParaRPr spc="-114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3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61517" y="1470534"/>
            <a:ext cx="6882283" cy="3179717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320040" indent="-307340">
              <a:lnSpc>
                <a:spcPct val="100000"/>
              </a:lnSpc>
              <a:spcBef>
                <a:spcPts val="635"/>
              </a:spcBef>
              <a:buSzPct val="97619"/>
              <a:buFont typeface="Wingdings"/>
              <a:buChar char=""/>
              <a:tabLst>
                <a:tab pos="320040" algn="l"/>
              </a:tabLst>
            </a:pPr>
            <a:r>
              <a:rPr lang="en-US" sz="2100" spc="-10" dirty="0">
                <a:latin typeface="Tahoma"/>
                <a:cs typeface="Tahoma"/>
              </a:rPr>
              <a:t>Introduction</a:t>
            </a:r>
          </a:p>
          <a:p>
            <a:pPr marL="320040" indent="-307340">
              <a:spcBef>
                <a:spcPts val="635"/>
              </a:spcBef>
              <a:buSzPct val="97619"/>
              <a:buFont typeface="Wingdings"/>
              <a:buChar char=""/>
              <a:tabLst>
                <a:tab pos="320040" algn="l"/>
              </a:tabLst>
            </a:pPr>
            <a:r>
              <a:rPr lang="en-US" sz="2100" dirty="0">
                <a:latin typeface="Tahoma"/>
                <a:cs typeface="Tahoma"/>
              </a:rPr>
              <a:t>Block</a:t>
            </a:r>
            <a:r>
              <a:rPr lang="en-US" sz="2100" spc="-140" dirty="0">
                <a:latin typeface="Tahoma"/>
                <a:cs typeface="Tahoma"/>
              </a:rPr>
              <a:t> </a:t>
            </a:r>
            <a:r>
              <a:rPr lang="en-US" sz="2100" spc="-10" dirty="0">
                <a:latin typeface="Tahoma"/>
                <a:cs typeface="Tahoma"/>
              </a:rPr>
              <a:t>Diagram</a:t>
            </a:r>
            <a:endParaRPr sz="2100" dirty="0">
              <a:latin typeface="Tahoma"/>
              <a:cs typeface="Tahoma"/>
            </a:endParaRPr>
          </a:p>
          <a:p>
            <a:pPr marL="249554" indent="-244475">
              <a:lnSpc>
                <a:spcPct val="100000"/>
              </a:lnSpc>
              <a:spcBef>
                <a:spcPts val="540"/>
              </a:spcBef>
              <a:buSzPct val="97619"/>
              <a:buFont typeface="Wingdings"/>
              <a:buChar char=""/>
              <a:tabLst>
                <a:tab pos="249554" algn="l"/>
              </a:tabLst>
            </a:pPr>
            <a:r>
              <a:rPr sz="2100" spc="-35" dirty="0">
                <a:latin typeface="Tahoma"/>
                <a:cs typeface="Tahoma"/>
              </a:rPr>
              <a:t>Design</a:t>
            </a:r>
            <a:r>
              <a:rPr sz="2100" spc="-12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Description</a:t>
            </a:r>
            <a:endParaRPr sz="2100" dirty="0">
              <a:latin typeface="Tahoma"/>
              <a:cs typeface="Tahoma"/>
            </a:endParaRPr>
          </a:p>
          <a:p>
            <a:pPr marL="250190" indent="-244475">
              <a:lnSpc>
                <a:spcPct val="100000"/>
              </a:lnSpc>
              <a:spcBef>
                <a:spcPts val="555"/>
              </a:spcBef>
              <a:buSzPct val="97619"/>
              <a:buFont typeface="Wingdings"/>
              <a:buChar char=""/>
              <a:tabLst>
                <a:tab pos="250190" algn="l"/>
              </a:tabLst>
            </a:pPr>
            <a:r>
              <a:rPr sz="2100" spc="-20" dirty="0">
                <a:latin typeface="Tahoma"/>
                <a:cs typeface="Tahoma"/>
              </a:rPr>
              <a:t>Assertions</a:t>
            </a:r>
            <a:r>
              <a:rPr lang="en-US" sz="2100" spc="-90" dirty="0">
                <a:latin typeface="Tahoma"/>
                <a:cs typeface="Tahoma"/>
              </a:rPr>
              <a:t>,</a:t>
            </a:r>
            <a:r>
              <a:rPr sz="2100" spc="-9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Assumptions</a:t>
            </a:r>
            <a:r>
              <a:rPr lang="en-US" sz="2100" spc="-10" dirty="0">
                <a:latin typeface="Tahoma"/>
                <a:cs typeface="Tahoma"/>
              </a:rPr>
              <a:t> and Coverages</a:t>
            </a:r>
            <a:endParaRPr sz="2100" dirty="0">
              <a:latin typeface="Tahoma"/>
              <a:cs typeface="Tahoma"/>
            </a:endParaRPr>
          </a:p>
          <a:p>
            <a:pPr marL="250190" indent="-244475">
              <a:lnSpc>
                <a:spcPct val="100000"/>
              </a:lnSpc>
              <a:spcBef>
                <a:spcPts val="550"/>
              </a:spcBef>
              <a:buSzPct val="97619"/>
              <a:buFont typeface="Wingdings"/>
              <a:buChar char=""/>
              <a:tabLst>
                <a:tab pos="250190" algn="l"/>
              </a:tabLst>
            </a:pPr>
            <a:r>
              <a:rPr sz="2100" spc="-20" dirty="0">
                <a:latin typeface="Tahoma"/>
                <a:cs typeface="Tahoma"/>
              </a:rPr>
              <a:t>Timing</a:t>
            </a:r>
            <a:r>
              <a:rPr sz="2100" spc="-13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Diagrams</a:t>
            </a:r>
            <a:endParaRPr sz="2100" dirty="0">
              <a:latin typeface="Tahoma"/>
              <a:cs typeface="Tahoma"/>
            </a:endParaRPr>
          </a:p>
          <a:p>
            <a:pPr marL="250190" indent="-244475">
              <a:lnSpc>
                <a:spcPct val="100000"/>
              </a:lnSpc>
              <a:spcBef>
                <a:spcPts val="540"/>
              </a:spcBef>
              <a:buSzPct val="97619"/>
              <a:buFont typeface="Wingdings"/>
              <a:buChar char=""/>
              <a:tabLst>
                <a:tab pos="250190" algn="l"/>
              </a:tabLst>
            </a:pPr>
            <a:r>
              <a:rPr lang="en-US" sz="2100" spc="-45" dirty="0">
                <a:latin typeface="Tahoma"/>
                <a:cs typeface="Tahoma"/>
              </a:rPr>
              <a:t>Challenges</a:t>
            </a:r>
            <a:endParaRPr sz="2100" dirty="0">
              <a:latin typeface="Tahoma"/>
              <a:cs typeface="Tahoma"/>
            </a:endParaRPr>
          </a:p>
          <a:p>
            <a:pPr marL="249554" indent="-244475">
              <a:lnSpc>
                <a:spcPct val="100000"/>
              </a:lnSpc>
              <a:spcBef>
                <a:spcPts val="555"/>
              </a:spcBef>
              <a:buSzPct val="97619"/>
              <a:buFont typeface="Wingdings"/>
              <a:buChar char=""/>
              <a:tabLst>
                <a:tab pos="249554" algn="l"/>
              </a:tabLst>
            </a:pPr>
            <a:r>
              <a:rPr lang="en-US" sz="2100" spc="-10" dirty="0">
                <a:latin typeface="Tahoma"/>
                <a:cs typeface="Tahoma"/>
              </a:rPr>
              <a:t>Conclusion</a:t>
            </a:r>
            <a:endParaRPr sz="2100" dirty="0">
              <a:latin typeface="Tahoma"/>
              <a:cs typeface="Tahoma"/>
            </a:endParaRPr>
          </a:p>
          <a:p>
            <a:pPr marL="250190" indent="-244475">
              <a:lnSpc>
                <a:spcPct val="100000"/>
              </a:lnSpc>
              <a:spcBef>
                <a:spcPts val="555"/>
              </a:spcBef>
              <a:buSzPct val="97619"/>
              <a:buFont typeface="Wingdings"/>
              <a:buChar char=""/>
              <a:tabLst>
                <a:tab pos="250190" algn="l"/>
              </a:tabLst>
            </a:pPr>
            <a:r>
              <a:rPr sz="2100" spc="-10" dirty="0">
                <a:latin typeface="Tahoma"/>
                <a:cs typeface="Tahoma"/>
              </a:rPr>
              <a:t>References</a:t>
            </a:r>
            <a:endParaRPr sz="21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917E6-9B38-A4FA-05D8-09F9D37BE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517" y="815466"/>
            <a:ext cx="5229860" cy="41549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413BA-07F8-B286-8970-D9E747FE7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517" y="1476247"/>
            <a:ext cx="7684134" cy="4524315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b="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dirty="0"/>
              <a:t>The project implements a complete I²C-based memory subsystem enabled with read and write capabilities between a master and a slave device.</a:t>
            </a:r>
          </a:p>
          <a:p>
            <a:endParaRPr lang="en-US" sz="1200" b="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dirty="0"/>
              <a:t>The subsystem includes four major components: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200" dirty="0"/>
              <a:t>Functional Unit (FU) – an 8-bit universal shift register for data preprocessing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200" dirty="0"/>
              <a:t>I²C Master Interface – generates all I²C protocol signals (START, STOP, ACK, address, data)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200" dirty="0"/>
              <a:t>I²C Slave / Memory Controller – receives serial data, performs address decoding, and handles memory accesses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200" dirty="0"/>
              <a:t>Memory Block – stores and retrieves 8-bit data</a:t>
            </a:r>
          </a:p>
          <a:p>
            <a:pPr lvl="1"/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dirty="0"/>
              <a:t>Supports multi-byte transactions, repeated START, clock stretching, and serial-to-parallel / parallel-to-serial conversion.</a:t>
            </a:r>
          </a:p>
          <a:p>
            <a:endParaRPr lang="en-US" sz="1200" b="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dirty="0"/>
              <a:t>The system ensures protocol-correct I²C communication, proper state transitions, and reliable data transfer under all supported scenarios.</a:t>
            </a:r>
          </a:p>
          <a:p>
            <a:endParaRPr lang="en-US" sz="1200" b="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dirty="0"/>
              <a:t>A complete Assertion-Based Verification (ABV) flow was applied, using FPV, SEQ, and coverage to validate: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200" dirty="0"/>
              <a:t>protocol behavior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200" dirty="0"/>
              <a:t>memory correctness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200" dirty="0"/>
              <a:t>FSM sequencing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200" dirty="0"/>
              <a:t>end-to-end write/read integrity</a:t>
            </a:r>
          </a:p>
          <a:p>
            <a:pPr lvl="1"/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0" dirty="0"/>
              <a:t>The final subsystem is fully verified, robust, and functionally consistent with I²C protocol requirements.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174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Block</a:t>
            </a:r>
            <a:r>
              <a:rPr spc="-100" dirty="0"/>
              <a:t> </a:t>
            </a:r>
            <a:r>
              <a:rPr spc="-10" dirty="0"/>
              <a:t>Diagram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3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pic>
        <p:nvPicPr>
          <p:cNvPr id="6" name="Picture 5" descr="A diagram of a computer system">
            <a:extLst>
              <a:ext uri="{FF2B5EF4-FFF2-40B4-BE49-F238E27FC236}">
                <a16:creationId xmlns:a16="http://schemas.microsoft.com/office/drawing/2014/main" id="{F6CD5C8B-64CE-46AC-12DF-ACEE261D8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058" y="1752600"/>
            <a:ext cx="8153400" cy="41969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517" y="815466"/>
            <a:ext cx="523621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Design</a:t>
            </a:r>
            <a:r>
              <a:rPr spc="-110" dirty="0"/>
              <a:t> </a:t>
            </a:r>
            <a:r>
              <a:rPr spc="-114" dirty="0"/>
              <a:t>Description: </a:t>
            </a:r>
            <a:r>
              <a:rPr spc="-140" dirty="0"/>
              <a:t>Functional</a:t>
            </a:r>
            <a:r>
              <a:rPr spc="-100" dirty="0"/>
              <a:t> </a:t>
            </a:r>
            <a:r>
              <a:rPr spc="-60" dirty="0"/>
              <a:t>Unit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1987" y="2170747"/>
            <a:ext cx="3590837" cy="244344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9730" y="2134328"/>
            <a:ext cx="2873794" cy="258945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3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E09C2-4487-983C-61D6-0DD6E06E5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517" y="815466"/>
            <a:ext cx="5229860" cy="415498"/>
          </a:xfrm>
        </p:spPr>
        <p:txBody>
          <a:bodyPr/>
          <a:lstStyle/>
          <a:p>
            <a:r>
              <a:rPr lang="en-US" spc="-50" dirty="0"/>
              <a:t>Design</a:t>
            </a:r>
            <a:r>
              <a:rPr lang="en-US" spc="-110" dirty="0"/>
              <a:t> </a:t>
            </a:r>
            <a:r>
              <a:rPr lang="en-US" spc="-114" dirty="0"/>
              <a:t>Description:</a:t>
            </a:r>
            <a:r>
              <a:rPr lang="en-US" spc="-120" dirty="0"/>
              <a:t> </a:t>
            </a:r>
            <a:r>
              <a:rPr lang="en-US" spc="-140" dirty="0"/>
              <a:t>Functional</a:t>
            </a:r>
            <a:r>
              <a:rPr lang="en-US" spc="-100" dirty="0"/>
              <a:t> </a:t>
            </a:r>
            <a:r>
              <a:rPr lang="en-US" spc="-70" dirty="0"/>
              <a:t>Unit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B47E9-D4B0-5632-D639-86CDD2D14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517" y="1476247"/>
            <a:ext cx="7684134" cy="4431983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0" dirty="0"/>
              <a:t>Implements multiple bit-manipulation operations: load, hold, logical shifts, rotates, and arithmetic shifts.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dirty="0"/>
              <a:t>Operation selected using a 3-bit control input (</a:t>
            </a:r>
            <a:r>
              <a:rPr lang="en-US" b="0" dirty="0" err="1"/>
              <a:t>S_in</a:t>
            </a:r>
            <a:r>
              <a:rPr lang="en-US" b="0" dirty="0"/>
              <a:t>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dirty="0" err="1"/>
              <a:t>D_in</a:t>
            </a:r>
            <a:r>
              <a:rPr lang="en-US" b="0" dirty="0"/>
              <a:t> (8-bit) provides the parallel data for load operations.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dirty="0" err="1"/>
              <a:t>MSB_in</a:t>
            </a:r>
            <a:r>
              <a:rPr lang="en-US" b="0" dirty="0"/>
              <a:t> and </a:t>
            </a:r>
            <a:r>
              <a:rPr lang="en-US" b="0" dirty="0" err="1"/>
              <a:t>LSB_in</a:t>
            </a:r>
            <a:r>
              <a:rPr lang="en-US" b="0" dirty="0"/>
              <a:t> supply serial bits during left and right shifts.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dirty="0"/>
              <a:t>Internally built using multiplexers + D-flip-flops for reliable timing.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dirty="0"/>
              <a:t>Produces processed 8-bit </a:t>
            </a:r>
            <a:r>
              <a:rPr lang="en-US" b="0" dirty="0" err="1"/>
              <a:t>data_out</a:t>
            </a:r>
            <a:r>
              <a:rPr lang="en-US" b="0" dirty="0"/>
              <a:t> that is forwarded to the I²C Master.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dirty="0"/>
              <a:t>Supports all shift/rotate modes required for data preprocessing before memory access.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dirty="0"/>
              <a:t>Fully verified using formal checks to ensure correct output for every shift mode.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568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Design</a:t>
            </a:r>
            <a:r>
              <a:rPr spc="-145" dirty="0"/>
              <a:t> </a:t>
            </a:r>
            <a:r>
              <a:rPr spc="-114" dirty="0"/>
              <a:t>Description:</a:t>
            </a:r>
            <a:r>
              <a:rPr spc="-155" dirty="0"/>
              <a:t> </a:t>
            </a:r>
            <a:r>
              <a:rPr spc="-50" dirty="0"/>
              <a:t>I2C</a:t>
            </a:r>
            <a:r>
              <a:rPr spc="-130" dirty="0"/>
              <a:t> </a:t>
            </a:r>
            <a:r>
              <a:rPr spc="-10" dirty="0"/>
              <a:t>Master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635" y="2535124"/>
            <a:ext cx="2996025" cy="239313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98900" y="1704817"/>
            <a:ext cx="5102457" cy="35349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3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6517A-C69A-9F64-ACB5-28DFC1FA4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517" y="815466"/>
            <a:ext cx="5229860" cy="415498"/>
          </a:xfrm>
        </p:spPr>
        <p:txBody>
          <a:bodyPr/>
          <a:lstStyle/>
          <a:p>
            <a:r>
              <a:rPr lang="en-US" spc="-50" dirty="0"/>
              <a:t>Design</a:t>
            </a:r>
            <a:r>
              <a:rPr lang="en-US" spc="-145" dirty="0"/>
              <a:t> </a:t>
            </a:r>
            <a:r>
              <a:rPr lang="en-US" spc="-114" dirty="0"/>
              <a:t>Description:</a:t>
            </a:r>
            <a:r>
              <a:rPr lang="en-US" spc="-155" dirty="0"/>
              <a:t> </a:t>
            </a:r>
            <a:r>
              <a:rPr lang="en-US" spc="-50" dirty="0"/>
              <a:t>I2C</a:t>
            </a:r>
            <a:r>
              <a:rPr lang="en-US" spc="-130" dirty="0"/>
              <a:t> </a:t>
            </a:r>
            <a:r>
              <a:rPr lang="en-US" spc="-10" dirty="0"/>
              <a:t>Master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CB2372-2DDF-6517-FBE6-D6E039B1BF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1517" y="1569691"/>
            <a:ext cx="787288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full I²C protocol using a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machine (FSM)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START/STOP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address bits, R/W bit, data bits, and samples ACK from the slave.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Begins a transaction when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Master_en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asserted with valid address, data, and R/W fields.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both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write (0)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 (1)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operations using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wr_rdn_en_in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Receives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addr_in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(8-bit) and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data_in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(8-bit) for write sequences.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Drives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SDA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SCL_drv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signals according to I²C timing rules; both idle high after reset.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multi-byte transfers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repeated START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proper ACK synchronization.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internal counters to track bit positions and burst transfers.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correct sequencing: START → Address → R/W → ACK → Data → ACK → STOP.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Fully verified using FPV to confirm all state transitions and signal behaviors.</a:t>
            </a:r>
          </a:p>
        </p:txBody>
      </p:sp>
    </p:spTree>
    <p:extLst>
      <p:ext uri="{BB962C8B-B14F-4D97-AF65-F5344CB8AC3E}">
        <p14:creationId xmlns:p14="http://schemas.microsoft.com/office/powerpoint/2010/main" val="3891706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517" y="815466"/>
            <a:ext cx="437134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Design</a:t>
            </a:r>
            <a:r>
              <a:rPr spc="-145" dirty="0"/>
              <a:t> </a:t>
            </a:r>
            <a:r>
              <a:rPr spc="-114" dirty="0"/>
              <a:t>Description:</a:t>
            </a:r>
            <a:r>
              <a:rPr spc="-155" dirty="0"/>
              <a:t> </a:t>
            </a:r>
            <a:r>
              <a:rPr spc="-50" dirty="0"/>
              <a:t>I2C</a:t>
            </a:r>
            <a:r>
              <a:rPr spc="-130" dirty="0"/>
              <a:t> </a:t>
            </a:r>
            <a:r>
              <a:rPr spc="-10" dirty="0"/>
              <a:t>Slave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4811" y="2141559"/>
            <a:ext cx="3073710" cy="26209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7503" y="1647254"/>
            <a:ext cx="4456311" cy="36427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3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517" y="815466"/>
            <a:ext cx="437134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Design</a:t>
            </a:r>
            <a:r>
              <a:rPr spc="-145" dirty="0"/>
              <a:t> </a:t>
            </a:r>
            <a:r>
              <a:rPr spc="-114" dirty="0"/>
              <a:t>Description:</a:t>
            </a:r>
            <a:r>
              <a:rPr spc="-155" dirty="0"/>
              <a:t> </a:t>
            </a:r>
            <a:r>
              <a:rPr spc="-50" dirty="0"/>
              <a:t>I2C</a:t>
            </a:r>
            <a:r>
              <a:rPr spc="-130" dirty="0"/>
              <a:t> </a:t>
            </a:r>
            <a:r>
              <a:rPr spc="-10" dirty="0"/>
              <a:t>Slave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3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61517" y="1476247"/>
            <a:ext cx="7684134" cy="507382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dirty="0"/>
              <a:t>I²C Slave (Memory Controller + Serial Interface)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dirty="0"/>
              <a:t>Receives serial address, R/W bit, and data from the I²C Master through SDA and SCL.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dirty="0"/>
              <a:t>Converts incoming serial bits into parallel address/data using internal bit counters.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dirty="0"/>
              <a:t>Performs address validation: accepts legal addresses (0–127) and rejects illegal ones (128–255).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dirty="0"/>
              <a:t>In write mode, collects 8 serial data bits and updates the internal memory at the decoded address.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dirty="0"/>
              <a:t>In read mode, retrieves the stored byte from memory and outputs it on </a:t>
            </a:r>
            <a:r>
              <a:rPr lang="en-US" b="0" dirty="0" err="1"/>
              <a:t>data_out</a:t>
            </a:r>
            <a:r>
              <a:rPr lang="en-US" b="0" dirty="0"/>
              <a:t> with done asserted.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dirty="0"/>
              <a:t>Generates ACK only for legal addresses and valid data reception.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dirty="0"/>
              <a:t>Supports clock stretching using </a:t>
            </a:r>
            <a:r>
              <a:rPr lang="en-US" b="0" dirty="0" err="1"/>
              <a:t>scl_stretch_n</a:t>
            </a:r>
            <a:r>
              <a:rPr lang="en-US" b="0" dirty="0"/>
              <a:t> to hold SCL low during processing delays.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dirty="0"/>
              <a:t>Returns to the IDLE state on STOP detection and maintains proper I²C timing behavior.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0" dirty="0"/>
              <a:t>Fully verified using FPV to ensure protocol accuracy, correct state transitions, and safe memory access.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D22E-5393-C9BB-0FBF-243C4AA59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517" y="815466"/>
            <a:ext cx="5229860" cy="415498"/>
          </a:xfrm>
        </p:spPr>
        <p:txBody>
          <a:bodyPr/>
          <a:lstStyle/>
          <a:p>
            <a:r>
              <a:rPr lang="en-US" dirty="0"/>
              <a:t>Assumptions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71229-2BAB-6E46-4DC2-477E67B64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517" y="1476247"/>
            <a:ext cx="7684134" cy="4016484"/>
          </a:xfrm>
        </p:spPr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is applied at the beginning and the clock is free-running.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Master_en</a:t>
            </a:r>
            <a:r>
              <a:rPr lang="en-US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behaves like a proper handshake signal and is not toggled randomly.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SDA and SCL remain stable when SCL is high (except during START/STOP).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and data inputs provided to the master are always valid 8-bit values.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illegal or unrealistic I²C transitions occur in the formal environment.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read/write transaction is active at a time unless repeated START is used.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Slave is assumed to respond only within valid protocol timing.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the formal tool from exploring unreachable or meaningless states.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939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8C6A-6390-B38B-CAE5-FF96DAD0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517" y="815466"/>
            <a:ext cx="5229860" cy="415498"/>
          </a:xfrm>
        </p:spPr>
        <p:txBody>
          <a:bodyPr/>
          <a:lstStyle/>
          <a:p>
            <a:r>
              <a:rPr lang="en-US" dirty="0"/>
              <a:t>Assertions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02212-B372-58B2-FD31-54B87D5E8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517" y="1476247"/>
            <a:ext cx="7684134" cy="5447645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Assertions (Protocol + Functional Verification)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Flip-Flop Assertions: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follows D on rising clock edge; async reset forces Q = 0.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8-to-1 Mux Assertions: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matches the selected input for every value of select.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Register Assertions: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behavior for load, hold, shift, rotate, and arithmetic shift modes.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I²C Master Assertions: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FSM transitions through START → ADDR → R/W → ACK → DATA → STOP.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SDA/SCL behavior for data and ACK phases.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ACK sampling and repeated START operation.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I²C Slave Assertions: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START/STOP detection correctness.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Serial-to-parallel assembly for address and data.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write only for legal addresses.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asserted only for valid read sequences.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 generated only when address is legal.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Protocol-Level Assertions: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SDA stable when SCL is high (except START/STOP).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write→read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returns the same stored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988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6A8AA-3F0E-869B-329C-9BC065B8A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517" y="815466"/>
            <a:ext cx="5229860" cy="415498"/>
          </a:xfrm>
        </p:spPr>
        <p:txBody>
          <a:bodyPr/>
          <a:lstStyle/>
          <a:p>
            <a:r>
              <a:rPr lang="en-US" dirty="0"/>
              <a:t>Coverage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CE2E7-B54D-B1CD-BB98-AB080F4E4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517" y="1476247"/>
            <a:ext cx="7684134" cy="5124480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Coverage (Functional + Protocol Coverage)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Coverage: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read and write operations exercised.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burst lengths and multi-byte transfers covered.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START scenarios observed.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Cross-coverage between R/W mode, burst size, and ACK behavior.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Slave Coverage: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and illegal address accesses both covered.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read/write paths fully exercised.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stretching active vs inactive.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FSM states observed.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Coverage: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0–255 value range divided into bins for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data_in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data_out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wide variety of data patterns are explored.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verification completeness for protocol, timing, and memory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669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Timing </a:t>
            </a:r>
            <a:r>
              <a:rPr spc="-10" dirty="0"/>
              <a:t>diagrams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517" y="1541779"/>
            <a:ext cx="86931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latin typeface="Times New Roman"/>
                <a:cs typeface="Times New Roman"/>
              </a:rPr>
              <a:t>READ: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3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8BCB6D-7A77-51D4-EB7D-459A78DD9C0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19200" y="2514600"/>
            <a:ext cx="6781800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Timing</a:t>
            </a:r>
            <a:r>
              <a:rPr spc="-100" dirty="0"/>
              <a:t> </a:t>
            </a:r>
            <a:r>
              <a:rPr spc="-10" dirty="0"/>
              <a:t>diagrams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517" y="1541779"/>
            <a:ext cx="1033144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latin typeface="Times New Roman"/>
                <a:cs typeface="Times New Roman"/>
              </a:rPr>
              <a:t>WRITE: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3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9E07E6-A396-E54D-4D2A-93E0352D599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66800" y="2176652"/>
            <a:ext cx="7086600" cy="36833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BFA64-8A91-DE8D-E6B6-278624EBE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517" y="815466"/>
            <a:ext cx="5229860" cy="415498"/>
          </a:xfrm>
        </p:spPr>
        <p:txBody>
          <a:bodyPr/>
          <a:lstStyle/>
          <a:p>
            <a:r>
              <a:rPr lang="en-US" dirty="0"/>
              <a:t>Results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36EB0-6400-D220-90ED-26BE35772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517" y="1476247"/>
            <a:ext cx="7684134" cy="276999"/>
          </a:xfrm>
        </p:spPr>
        <p:txBody>
          <a:bodyPr/>
          <a:lstStyle/>
          <a:p>
            <a:r>
              <a:rPr lang="en-US" dirty="0"/>
              <a:t>I2C_top(FPV app Mode):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CBB144-F41B-AFCF-1950-CB02285AF8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905000"/>
            <a:ext cx="6781800" cy="413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71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75AAD-52F4-DBA8-A8BE-2634F90C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517" y="815466"/>
            <a:ext cx="5229860" cy="415498"/>
          </a:xfrm>
        </p:spPr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34397D-B2C6-DE08-482A-D955CCE5C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1517" y="1725278"/>
            <a:ext cx="7872883" cy="3936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Synchronizing the Master and Slave FSMs was difficult due to differences in signal edges and protocol timing.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protocol assertions (especially SDA stability when SCL is high) produced false failures and required refinement.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STOP/termination detection failed in formal runs because of clock-stretching delays; timing conditions had to be adjusted.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Slave assertions failed for ACK and DONE signals after adding illegal address handling (0–127 valid, 128–255 invalid).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properties failed because the formal tool explored unrealistic sequences (multiple writes before read, random reads).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Required adding assumptions to restrict the environment to valid I²C behavior.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Compilation issues occurred due to missing imports, mismatched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enum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names, width mismatches, and duplicate parameters in SVA modules.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Debugging interactions between bit counters, FSM states, and serial-to-parallel conversions took multiple iterations to stabilize.</a:t>
            </a:r>
          </a:p>
        </p:txBody>
      </p:sp>
    </p:spTree>
    <p:extLst>
      <p:ext uri="{BB962C8B-B14F-4D97-AF65-F5344CB8AC3E}">
        <p14:creationId xmlns:p14="http://schemas.microsoft.com/office/powerpoint/2010/main" val="2515867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8DF11-5C37-E113-90FC-52EC32079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517" y="815466"/>
            <a:ext cx="5229860" cy="415498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BD56B-D26D-A559-71C5-5FE3DC473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517" y="1476247"/>
            <a:ext cx="7684134" cy="4893647"/>
          </a:xfrm>
        </p:spPr>
        <p:txBody>
          <a:bodyPr/>
          <a:lstStyle/>
          <a:p>
            <a:pPr marL="171450" indent="-1714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1200" b="0" dirty="0"/>
              <a:t>Designed and implemented a complete I²C-based memory subsystem including a Functional Unit, I²C Master, I²C Slave, and Memory.</a:t>
            </a:r>
          </a:p>
          <a:p>
            <a:pPr marL="171450" indent="-1714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1200" b="0" dirty="0"/>
              <a:t>Functional Unit performs preprocessing using an 8-bit universal shift register supporting load, shift, and rotate operations.</a:t>
            </a:r>
          </a:p>
          <a:p>
            <a:pPr marL="171450" indent="-1714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1200" b="0" dirty="0"/>
              <a:t>I²C Master and Slave were modeled as FSMs handling address decoding, data transfer, ACK/NACK, repeated START, and clock stretching.</a:t>
            </a:r>
          </a:p>
          <a:p>
            <a:pPr marL="171450" indent="-1714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1200" b="0" dirty="0"/>
              <a:t>Subsystem supports legal/illegal address detection, multi-byte transfers, and protocol-accurate communication.</a:t>
            </a:r>
          </a:p>
          <a:p>
            <a:pPr marL="171450" indent="-1714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1200" b="0" dirty="0"/>
              <a:t>Assertion-Based Verification was applied across all modules using FPV, SEQ, and functional coverage.</a:t>
            </a:r>
          </a:p>
          <a:p>
            <a:pPr marL="171450" indent="-1714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1200" b="0" dirty="0"/>
              <a:t>Verified protocol correctness, memory integrity, state-machine sequencing, and end-to-end </a:t>
            </a:r>
            <a:r>
              <a:rPr lang="en-US" sz="1200" b="0" dirty="0" err="1"/>
              <a:t>write→read</a:t>
            </a:r>
            <a:r>
              <a:rPr lang="en-US" sz="1200" b="0" dirty="0"/>
              <a:t> consistency.</a:t>
            </a:r>
          </a:p>
          <a:p>
            <a:pPr marL="171450" indent="-1714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1200" b="0" dirty="0"/>
              <a:t>Final results demonstrate that the design is functionally correct, protocol-compliant, and fully verified under all supported I²C scenarios.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94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3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61517" y="1470534"/>
            <a:ext cx="7368540" cy="4174861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/>
              <a:t>Texas Instruments – </a:t>
            </a:r>
            <a:r>
              <a:rPr lang="en-US" sz="1200" i="1" dirty="0"/>
              <a:t>I²C Application Notes &amp; Design Guidelines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/>
              <a:t>NXP Semiconductors – </a:t>
            </a:r>
            <a:r>
              <a:rPr lang="en-US" sz="1200" i="1" dirty="0"/>
              <a:t>I²C-bus Specification and User Manual (UM10204)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/>
              <a:t>CircuitBasics</a:t>
            </a:r>
            <a:r>
              <a:rPr lang="en-US" sz="1200" dirty="0"/>
              <a:t> – </a:t>
            </a:r>
            <a:r>
              <a:rPr lang="en-US" sz="1200" i="1" dirty="0"/>
              <a:t>Basics of the I²C Communication Protocol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/>
              <a:t>Microchip – </a:t>
            </a:r>
            <a:r>
              <a:rPr lang="en-US" sz="1200" i="1" dirty="0"/>
              <a:t>Understanding the I²C Bus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/>
              <a:t>Analog Devices – </a:t>
            </a:r>
            <a:r>
              <a:rPr lang="en-US" sz="1200" i="1" dirty="0"/>
              <a:t>Designing Robust I²C Systems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/>
              <a:t>Intel – </a:t>
            </a:r>
            <a:r>
              <a:rPr lang="en-US" sz="1200" i="1" dirty="0"/>
              <a:t>I²C Controller Architecture Application Notes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/>
              <a:t>IEEE 1800-2017 – </a:t>
            </a:r>
            <a:r>
              <a:rPr lang="en-US" sz="1200" i="1" dirty="0" err="1"/>
              <a:t>SystemVerilog</a:t>
            </a:r>
            <a:r>
              <a:rPr lang="en-US" sz="1200" i="1" dirty="0"/>
              <a:t> Language &amp; Assertions Standard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/>
              <a:t>Verification Academy – </a:t>
            </a:r>
            <a:r>
              <a:rPr lang="en-US" sz="1200" i="1" dirty="0" err="1"/>
              <a:t>SystemVerilog</a:t>
            </a:r>
            <a:r>
              <a:rPr lang="en-US" sz="1200" i="1" dirty="0"/>
              <a:t> Assertions &amp; Formal Verification Tutorials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/>
              <a:t>Synopsys – </a:t>
            </a:r>
            <a:r>
              <a:rPr lang="en-US" sz="1200" i="1" dirty="0"/>
              <a:t>VC Formal User Guide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/>
              <a:t>ARM – </a:t>
            </a:r>
            <a:r>
              <a:rPr lang="en-US" sz="1200" i="1" dirty="0"/>
              <a:t>AMBA &amp; Peripheral Bus Architecture Documentation</a:t>
            </a:r>
            <a:endParaRPr lang="en-US" sz="1200" dirty="0"/>
          </a:p>
          <a:p>
            <a:pPr marL="12700">
              <a:lnSpc>
                <a:spcPct val="100000"/>
              </a:lnSpc>
              <a:spcBef>
                <a:spcPts val="635"/>
              </a:spcBef>
              <a:buSzPct val="97619"/>
              <a:tabLst>
                <a:tab pos="320040" algn="l"/>
              </a:tabLst>
            </a:pPr>
            <a:endParaRPr sz="21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2232" y="3160014"/>
            <a:ext cx="343725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Times New Roman"/>
                <a:cs typeface="Times New Roman"/>
              </a:rPr>
              <a:t>THANK</a:t>
            </a:r>
            <a:r>
              <a:rPr sz="4400" spc="-180" dirty="0">
                <a:latin typeface="Times New Roman"/>
                <a:cs typeface="Times New Roman"/>
              </a:rPr>
              <a:t> </a:t>
            </a:r>
            <a:r>
              <a:rPr sz="4400" spc="-25" dirty="0">
                <a:latin typeface="Times New Roman"/>
                <a:cs typeface="Times New Roman"/>
              </a:rPr>
              <a:t>YOU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3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</TotalTime>
  <Words>1523</Words>
  <Application>Microsoft Office PowerPoint</Application>
  <PresentationFormat>On-screen Show (4:3)</PresentationFormat>
  <Paragraphs>172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Tahoma</vt:lpstr>
      <vt:lpstr>Times New Roman</vt:lpstr>
      <vt:lpstr>Trebuchet MS</vt:lpstr>
      <vt:lpstr>Wingdings</vt:lpstr>
      <vt:lpstr>Office Theme</vt:lpstr>
      <vt:lpstr>ECE 560 Assertion Based Verification</vt:lpstr>
      <vt:lpstr>Contents</vt:lpstr>
      <vt:lpstr>Introduction</vt:lpstr>
      <vt:lpstr>Block Diagram</vt:lpstr>
      <vt:lpstr>Design Description: Functional Unit</vt:lpstr>
      <vt:lpstr>Design Description: Functional Unit</vt:lpstr>
      <vt:lpstr>Design Description: I2C Master</vt:lpstr>
      <vt:lpstr>Design Description: I2C Master</vt:lpstr>
      <vt:lpstr>Design Description: I2C Slave</vt:lpstr>
      <vt:lpstr>Design Description: I2C Slave</vt:lpstr>
      <vt:lpstr>Assumptions</vt:lpstr>
      <vt:lpstr>Assertions</vt:lpstr>
      <vt:lpstr>Coverage</vt:lpstr>
      <vt:lpstr>Timing diagrams</vt:lpstr>
      <vt:lpstr>Timing diagrams</vt:lpstr>
      <vt:lpstr>Results </vt:lpstr>
      <vt:lpstr>Challenges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sathwik bandi</dc:creator>
  <cp:lastModifiedBy>SATHWIK BANDI</cp:lastModifiedBy>
  <cp:revision>1</cp:revision>
  <dcterms:created xsi:type="dcterms:W3CDTF">2025-12-03T04:46:41Z</dcterms:created>
  <dcterms:modified xsi:type="dcterms:W3CDTF">2025-12-03T06:03:18Z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2025-12-03T00:00:00Z</vt:filetime>
  </property>
  <property fmtid="{D5CDD505-2E9C-101B-9397-08002B2CF9AE}" pid="5" name="Producer">
    <vt:lpwstr>Microsoft® PowerPoint® for Microsoft 365</vt:lpwstr>
  </property>
</Properties>
</file>